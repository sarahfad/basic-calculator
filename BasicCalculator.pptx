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83" r:id="rId4"/>
  </p:sldMasterIdLst>
  <p:notesMasterIdLst>
    <p:notesMasterId r:id="rId11"/>
  </p:notesMasterIdLst>
  <p:handoutMasterIdLst>
    <p:handoutMasterId r:id="rId12"/>
  </p:handoutMasterIdLst>
  <p:sldIdLst>
    <p:sldId id="325" r:id="rId5"/>
    <p:sldId id="307" r:id="rId6"/>
    <p:sldId id="312" r:id="rId7"/>
    <p:sldId id="339" r:id="rId8"/>
    <p:sldId id="336" r:id="rId9"/>
    <p:sldId id="32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4" autoAdjust="0"/>
    <p:restoredTop sz="95394" autoAdjust="0"/>
  </p:normalViewPr>
  <p:slideViewPr>
    <p:cSldViewPr snapToGrid="0">
      <p:cViewPr>
        <p:scale>
          <a:sx n="69" d="100"/>
          <a:sy n="69" d="100"/>
        </p:scale>
        <p:origin x="186" y="72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2069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04B9809-3C73-CA2B-1791-620EA168CC0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B1C58-A1FD-D1E1-33AB-1303C48435C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6AA30A-158D-435B-B1F3-6FF82BD60FDF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17A0D9-659F-DDC6-CBD8-29B61E0FF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E0617-6128-05F5-8F48-6A0A1D1479E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A24AC-02A6-46A1-A072-EAC8AC25DCA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9198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6A0313-F537-4ED0-973B-4729E10A826A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92804-03A6-47F6-A893-4DDB8903A80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17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designed this calculator with all the core operations you expect, including a backspace and clear feature. I also designed the GUI using </a:t>
            </a:r>
            <a:r>
              <a:rPr lang="en-US" dirty="0" err="1"/>
              <a:t>Tkninter</a:t>
            </a:r>
            <a:r>
              <a:rPr lang="en-US" dirty="0"/>
              <a:t> and modified the look to include a pink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182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program is separated into two classes. </a:t>
            </a:r>
            <a:r>
              <a:rPr lang="en-US" dirty="0" err="1"/>
              <a:t>CaculatorLogic</a:t>
            </a:r>
            <a:r>
              <a:rPr lang="en-US" dirty="0"/>
              <a:t> handles the math operations, while </a:t>
            </a:r>
            <a:r>
              <a:rPr lang="en-US" dirty="0" err="1"/>
              <a:t>CalculatorApp</a:t>
            </a:r>
            <a:r>
              <a:rPr lang="en-US" dirty="0"/>
              <a:t> builds the GUI which inherits from </a:t>
            </a:r>
            <a:r>
              <a:rPr lang="en-US" dirty="0" err="1"/>
              <a:t>Tkinter’s</a:t>
            </a:r>
            <a:r>
              <a:rPr lang="en-US" dirty="0"/>
              <a:t> base class – this means the calculator is a TK window and I extend its behavior by adding widgets and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977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034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72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C92804-03A6-47F6-A893-4DDB8903A80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841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C7A07-96C3-42AF-943D-953C86C3DA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0472" y="1463557"/>
            <a:ext cx="9144000" cy="2387600"/>
          </a:xfrm>
        </p:spPr>
        <p:txBody>
          <a:bodyPr anchor="b">
            <a:normAutofit/>
          </a:bodyPr>
          <a:lstStyle>
            <a:lvl1pPr algn="ctr">
              <a:lnSpc>
                <a:spcPct val="90000"/>
              </a:lnSpc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EE38DF-F503-4E79-B1B0-16489708A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90472" y="3943232"/>
            <a:ext cx="9144000" cy="1655762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46538D75-00C2-DE73-4C65-FE94AC658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B601B81-68C1-B63A-105C-EC637DF56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9F3E495-0415-392A-9A07-34555BBC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42765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413-82C1-4EBC-8C6B-BC5F842D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lnSpc>
                <a:spcPct val="90000"/>
              </a:lnSpc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029A-192E-4A44-ACC7-6C5212C77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624" y="1825625"/>
            <a:ext cx="10515600" cy="4206383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25CBB87-BE9B-82CE-8A24-F21EEA036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2131628-C033-9728-C4CF-90CDBCB89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67216CA-9A26-BBE7-68A3-9237D22CD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127296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F4BC-D1E9-40F0-A26B-9EA9B6B69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1081941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974A6-FAB9-47DA-8F1A-701DFC8DF3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624" y="3961666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B034DD9-4A61-318F-88CF-79721B55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496DA99-E916-9F7C-9E88-AA06046AE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1CC86B5-B6B3-4633-0D90-AACB44D0D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2490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8F7F10-35F6-E392-D41B-3CD300D5CCF8}"/>
              </a:ext>
            </a:extLst>
          </p:cNvPr>
          <p:cNvSpPr/>
          <p:nvPr/>
        </p:nvSpPr>
        <p:spPr>
          <a:xfrm>
            <a:off x="0" y="685800"/>
            <a:ext cx="11494008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264F76-994F-4AB5-B17B-46C0C2FA5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69B3B-A540-4556-98C8-1F49704A7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0624" y="1825625"/>
            <a:ext cx="5181600" cy="420638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 dirty="0"/>
            </a:lvl5pPr>
          </a:lstStyle>
          <a:p>
            <a:pPr lvl="0">
              <a:buChar char="¬"/>
            </a:pPr>
            <a:r>
              <a:rPr lang="en-US"/>
              <a:t>Click to edit Master text styles</a:t>
            </a:r>
          </a:p>
          <a:p>
            <a:pPr lvl="1">
              <a:buChar char="¬"/>
            </a:pPr>
            <a:r>
              <a:rPr lang="en-US"/>
              <a:t>Second level</a:t>
            </a:r>
          </a:p>
          <a:p>
            <a:pPr lvl="2">
              <a:buChar char="¬"/>
            </a:pPr>
            <a:r>
              <a:rPr lang="en-US"/>
              <a:t>Third level</a:t>
            </a:r>
          </a:p>
          <a:p>
            <a:pPr lvl="3">
              <a:buChar char="¬"/>
            </a:pPr>
            <a:r>
              <a:rPr lang="en-US"/>
              <a:t>Fourth level</a:t>
            </a:r>
          </a:p>
          <a:p>
            <a:pPr lvl="4">
              <a:buChar char="¬"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72438-7C63-48F2-9D6F-2461BFD6D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56178" y="1825625"/>
            <a:ext cx="5180046" cy="4206382"/>
          </a:xfrm>
        </p:spPr>
        <p:txBody>
          <a:bodyPr/>
          <a:lstStyle>
            <a:lvl1pPr marL="228600" indent="-228600">
              <a:buFont typeface="Wingdings 2" panose="05020102010507070707" pitchFamily="18" charset="2"/>
              <a:buChar char="¬"/>
              <a:defRPr/>
            </a:lvl1pPr>
            <a:lvl2pPr marL="685800" indent="-228600">
              <a:buFont typeface="Wingdings 2" panose="05020102010507070707" pitchFamily="18" charset="2"/>
              <a:buChar char="¬"/>
              <a:defRPr/>
            </a:lvl2pPr>
            <a:lvl3pPr marL="1143000" indent="-228600">
              <a:buFont typeface="Wingdings 2" panose="05020102010507070707" pitchFamily="18" charset="2"/>
              <a:buChar char="¬"/>
              <a:defRPr/>
            </a:lvl3pPr>
            <a:lvl4pPr marL="1600200" indent="-228600">
              <a:buFont typeface="Wingdings 2" panose="05020102010507070707" pitchFamily="18" charset="2"/>
              <a:buChar char="¬"/>
              <a:defRPr/>
            </a:lvl4pPr>
            <a:lvl5pPr marL="2057400" indent="-228600">
              <a:buFont typeface="Wingdings 2" panose="05020102010507070707" pitchFamily="18" charset="2"/>
              <a:buChar char="¬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5274CEC-210E-BC97-9B79-A7D801E4B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86B3D53-F805-C08E-2359-498218FC6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C4695B-D7BD-45F7-EB23-6FDAF2410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61204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A1F52B7-5271-53AA-8260-0CF50FF8DA3C}"/>
              </a:ext>
            </a:extLst>
          </p:cNvPr>
          <p:cNvSpPr/>
          <p:nvPr/>
        </p:nvSpPr>
        <p:spPr>
          <a:xfrm>
            <a:off x="0" y="685800"/>
            <a:ext cx="11494008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78" y="365125"/>
            <a:ext cx="10515600" cy="1325563"/>
          </a:xfrm>
        </p:spPr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5DDA7-4AAD-4EBE-880C-200E5F10A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217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717496-E470-4CF6-884C-F07390A468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178" y="2505075"/>
            <a:ext cx="5157787" cy="3526932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C438EA-D381-4F22-A911-ECDD6D04FB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5459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54590" y="2505075"/>
            <a:ext cx="5183188" cy="3526932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198C3F1-4E77-7888-CDB8-CF9406E4A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93561D3-90F6-AD82-BCFE-90F9427D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32F9B33-3FA7-526F-7B45-342EB64A1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65457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F235-FBFF-453E-B90A-5758ED47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938306"/>
            <a:ext cx="10515600" cy="1325563"/>
          </a:xfrm>
        </p:spPr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9328E63-E075-39E2-BAA7-30CCAE2E7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894A5-0E01-F43E-C68A-2EFAB2EB8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250128C-CE40-2B40-1B89-7E9AAAAC4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50277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281B99-C6A0-F92A-BDD3-BB362196501C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B8367C-67E1-A50A-1584-F859A6FED9C9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BB8861-51D7-741E-6B2C-25412D40E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69A2F-0657-B33B-8334-C458A9538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4FC84-48ED-0480-2497-FCD84C12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31472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12261-8522-4437-B612-7C7100D18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457200"/>
            <a:ext cx="10512425" cy="1600200"/>
          </a:xfrm>
        </p:spPr>
        <p:txBody>
          <a:bodyPr anchor="b">
            <a:normAutofit/>
          </a:bodyPr>
          <a:lstStyle>
            <a:lvl1pPr>
              <a:defRPr sz="5200">
                <a:latin typeface="Dante (Headings)2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AA0AF-3F50-42BD-84B4-E70C3D004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2830" y="2199340"/>
            <a:ext cx="6172200" cy="366171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9C702B-2C4D-4590-8BEE-31940145C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0624" y="2199340"/>
            <a:ext cx="3932237" cy="3669647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3F37370-7C05-0AAE-A0C3-9EE620A84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900B8E3-39E6-A88A-BBFB-717596EB3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48E340D-1840-D987-3EEA-963BDDE31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018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5334B-3019-4CA1-B658-779001922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457200"/>
            <a:ext cx="3932237" cy="16002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D3CC12-FD6B-41A3-BF67-D600CC4383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81276" y="987425"/>
            <a:ext cx="6172200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B2BD5-DC18-460B-BFCC-5B2447D2B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0624" y="2199340"/>
            <a:ext cx="3932237" cy="3669647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0F28E44-58BB-553B-BBD0-F292C66C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22D156-E5FE-F118-0553-B401F1965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AEE0A6-6120-9BA2-5751-E0E2D8C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9915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D930A-6467-4C46-BA13-A0F5EC12F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41977A-7872-4BE8-8C5C-D2099BEDBB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268C47-2910-B99C-EC67-F6649ADC2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019515-4A04-FBE0-E89C-86ECBB7E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D9C272-2490-C827-9BE5-9CEE41850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05413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76A9FC-D582-4FC8-B641-9F77B4DD1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32613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3A1683-12F6-4BA6-AD1A-F98C60951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3943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F68BE-C313-C839-B719-0339AC344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4F4E5F-FFF4-F934-3DD9-134F8D242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FE0F82-88EB-FAE2-FC02-99D5EE301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207414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F7D84AA-0BCE-9C85-4510-34EBAE061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524" y="708955"/>
            <a:ext cx="12193526" cy="5463893"/>
            <a:chOff x="-1524" y="708955"/>
            <a:chExt cx="12193526" cy="546389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1002A6-9DB7-26A1-2425-8C496B953CA4}"/>
                </a:ext>
              </a:extLst>
            </p:cNvPr>
            <p:cNvSpPr/>
            <p:nvPr userDrawn="1"/>
          </p:nvSpPr>
          <p:spPr>
            <a:xfrm>
              <a:off x="-1524" y="709613"/>
              <a:ext cx="12192000" cy="5463235"/>
            </a:xfrm>
            <a:prstGeom prst="rect">
              <a:avLst/>
            </a:prstGeom>
            <a:solidFill>
              <a:schemeClr val="accent3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9F029623-B14D-1CDC-9D8F-47D563937B5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43670" t="-7182" r="-9886" b="52046"/>
            <a:stretch/>
          </p:blipFill>
          <p:spPr>
            <a:xfrm>
              <a:off x="-1" y="1162050"/>
              <a:ext cx="5568949" cy="5009032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B4D8031F-ED2A-8D7E-D369-6BF3256FE3F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256" t="-7183" r="44925" b="48899"/>
            <a:stretch/>
          </p:blipFill>
          <p:spPr>
            <a:xfrm rot="16200000">
              <a:off x="7239292" y="366674"/>
              <a:ext cx="4610430" cy="5294991"/>
            </a:xfrm>
            <a:prstGeom prst="rect">
              <a:avLst/>
            </a:prstGeom>
          </p:spPr>
        </p:pic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28D3FB-54EA-410D-A062-8F118E5D0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93477A-1279-4BCC-8257-14CC2361F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F04C86-E215-DFBB-8302-70BCCDFC2D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708956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9577F-647F-5850-5636-6ED05B995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9482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CBFB4F-DC16-FC59-E9E7-B92910449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6429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690604-E7DB-AFA3-7E13-CAFF46FF5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7968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E2874C2-BA39-4778-DC11-487CC4FCA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D6334D-FB4A-4843-F2FB-1CAC50021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86958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FC043C06-5053-E291-E708-44B684DC5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932" y="1115167"/>
            <a:ext cx="8534136" cy="4655385"/>
          </a:xfrm>
        </p:spPr>
        <p:txBody>
          <a:bodyPr>
            <a:noAutofit/>
          </a:bodyPr>
          <a:lstStyle>
            <a:lvl1pPr algn="ctr"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68248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F9E0CFE-F27B-4D50-AA2F-7146CA90E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48" y="2138289"/>
            <a:ext cx="12188952" cy="4033912"/>
          </a:xfrm>
          <a:prstGeom prst="rect">
            <a:avLst/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C488A36-B0CB-7B46-C2A6-BA57D39EC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7860" r="37853" b="27738"/>
          <a:stretch/>
        </p:blipFill>
        <p:spPr>
          <a:xfrm>
            <a:off x="6962087" y="2143124"/>
            <a:ext cx="5226865" cy="403383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A8614BA2-9387-F1B5-B7DB-B34DAE90FE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7" y="365125"/>
            <a:ext cx="10778937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994EC89-4FAE-445C-A6E8-D55E4A34DE4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2899" y="2350108"/>
            <a:ext cx="10778221" cy="3609461"/>
          </a:xfrm>
        </p:spPr>
        <p:txBody>
          <a:bodyPr anchor="ctr" anchorCtr="0">
            <a:normAutofit/>
          </a:bodyPr>
          <a:lstStyle>
            <a:lvl1pPr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ECF93F-3E86-4C44-BAF1-ADE160CAD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A80DA6A-71F3-6286-F60A-EEEC91887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F98B46-5DFC-3487-EB05-148905CA6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138288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768F8E-3DFF-8D92-E3CF-5AE5F6DA54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045761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83A1EA-5EE3-D81A-D135-860F481F6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64727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EA58FF-2FB1-3B78-FDCF-E5DC2EFE5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326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77B93E-437F-D9D6-D3D1-6DE5F025A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744200" y="1"/>
            <a:ext cx="75198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74AAE1C-171A-32A3-E6FD-75252CAB8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796" t="12194" r="49125" b="12256"/>
          <a:stretch/>
        </p:blipFill>
        <p:spPr>
          <a:xfrm>
            <a:off x="10732660" y="-5609"/>
            <a:ext cx="763524" cy="6863608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F581E4B7-6D97-63BF-7E87-5E71F8BD8C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178" y="365125"/>
            <a:ext cx="9733538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630934-DBD2-4535-961F-B198ABA2D05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6" y="2198915"/>
            <a:ext cx="9741183" cy="3345316"/>
          </a:xfrm>
        </p:spPr>
        <p:txBody>
          <a:bodyPr anchor="t" anchorCtr="0">
            <a:normAutofit/>
          </a:bodyPr>
          <a:lstStyle>
            <a:lvl1pPr marL="0" indent="0">
              <a:buNone/>
              <a:defRPr sz="1800" baseline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20D2A6-7700-487F-AC7E-A5A2C30DC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FC30D6A-6415-42E1-89E9-EF806C3FE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05DBF26-BAB3-D5FD-5EA7-310263D4CA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940584B-2A03-52F7-B667-9CD1A2BD7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C0872-DC48-53B1-8569-7A913D92D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074420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35D700-0F05-E0E7-FB42-2FC890C26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063077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5C00B3F-62BE-8535-5239-46279DF1B7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052457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5414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B7AE2FB-B934-16AA-2537-04016B7F1A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2897" y="576263"/>
            <a:ext cx="5646541" cy="3304494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pPr algn="l">
              <a:lnSpc>
                <a:spcPts val="5800"/>
              </a:lnSpc>
            </a:pPr>
            <a:r>
              <a:rPr lang="en-US" sz="4800" dirty="0"/>
              <a:t>Click to add title 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5241927-0828-2C0E-290E-E82A357BC8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2275" y="4148138"/>
            <a:ext cx="5673726" cy="152876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6379D45C-F78A-E101-CD9D-C98EA6E6C56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95" y="-1"/>
            <a:ext cx="5013087" cy="6857998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4F6DF6-2D97-1E21-15A5-D0E9397E2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3314061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 2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9955-0460-4A20-8FC6-3005955600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0624" y="365125"/>
            <a:ext cx="10654936" cy="1325563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sz="4400" dirty="0"/>
              <a:t>Click to add title 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255FA-A04D-49F2-8DB4-3CC082D0DBC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105342" y="2198914"/>
            <a:ext cx="3970218" cy="344598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845EA08-ECD8-E8B5-40BF-E899F315098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0C4E27-95CA-78A5-BD7A-6109D75C8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504656" y="2020824"/>
            <a:ext cx="687343" cy="1896697"/>
          </a:xfrm>
          <a:prstGeom prst="rect">
            <a:avLst/>
          </a:prstGeom>
          <a:solidFill>
            <a:schemeClr val="accent3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8AE4F7BC-B724-2456-4104-1C5E254EEF3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22178" y="2198914"/>
            <a:ext cx="6487908" cy="3455925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28600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143000">
              <a:spcBef>
                <a:spcPts val="1000"/>
              </a:spcBef>
              <a:defRPr sz="1800"/>
            </a:lvl4pPr>
            <a:lvl5pPr marL="160020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32285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9BDEB7A-D103-487A-8C1B-9145FB24B6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897" y="539496"/>
            <a:ext cx="5228393" cy="269719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sz="4800" dirty="0"/>
              <a:t>Click to add title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017A3E-25F7-41D5-AABB-24D0E2673A6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2897" y="3354749"/>
            <a:ext cx="5228392" cy="258247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5C0C26-4C66-47DC-B079-5B94C22F1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07E30B1-7066-9D31-7A11-7B81B65DD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E672D-C862-C853-0730-15E3C4953D67}"/>
              </a:ext>
            </a:extLst>
          </p:cNvPr>
          <p:cNvSpPr/>
          <p:nvPr userDrawn="1"/>
        </p:nvSpPr>
        <p:spPr>
          <a:xfrm>
            <a:off x="9884230" y="1"/>
            <a:ext cx="161195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10336ED-3DCB-4524-8A3F-9FBBD0B18E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116050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815F86B-1A6A-ECD5-F63A-4280BADEF7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884230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5534F0-444E-1FA5-FC8F-F04505FC0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768622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19972F-DA18-8749-FF59-A83CA1E1F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372495" y="561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D80A1-B7E7-2F80-975E-2E87C591BB67}"/>
              </a:ext>
            </a:extLst>
          </p:cNvPr>
          <p:cNvSpPr/>
          <p:nvPr userDrawn="1"/>
        </p:nvSpPr>
        <p:spPr>
          <a:xfrm>
            <a:off x="7760541" y="1"/>
            <a:ext cx="1611954" cy="6857999"/>
          </a:xfrm>
          <a:prstGeom prst="rect">
            <a:avLst/>
          </a:prstGeom>
          <a:solidFill>
            <a:schemeClr val="accent3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88F6AB-6890-F7DE-7C01-CE237F778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9481352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F6575E3-45E3-206E-9037-D8FD562B7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7760541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E4BC31-600E-ECD3-1E7F-FE4F6F720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7644933" y="0"/>
            <a:ext cx="0" cy="6858000"/>
          </a:xfrm>
          <a:prstGeom prst="line">
            <a:avLst/>
          </a:prstGeom>
          <a:ln w="9525" cap="rnd">
            <a:solidFill>
              <a:schemeClr val="accent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Graphic 33">
            <a:extLst>
              <a:ext uri="{FF2B5EF4-FFF2-40B4-BE49-F238E27FC236}">
                <a16:creationId xmlns:a16="http://schemas.microsoft.com/office/drawing/2014/main" id="{3F8CA839-B327-1ECD-C35D-02164F5BBD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1706" t="12194" r="49126" b="12256"/>
          <a:stretch/>
        </p:blipFill>
        <p:spPr>
          <a:xfrm>
            <a:off x="9884229" y="-5609"/>
            <a:ext cx="1611955" cy="6863608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E1A97957-D274-4D24-1862-D53BF72826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790" t="12194" r="70042" b="12256"/>
          <a:stretch/>
        </p:blipFill>
        <p:spPr>
          <a:xfrm>
            <a:off x="7753789" y="5610"/>
            <a:ext cx="1611955" cy="686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701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4B53B4F-080C-8523-03AD-871CC3B8D168}"/>
              </a:ext>
            </a:extLst>
          </p:cNvPr>
          <p:cNvSpPr/>
          <p:nvPr/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3B790B-70BD-FD52-2540-F1DA4882170E}"/>
              </a:ext>
            </a:extLst>
          </p:cNvPr>
          <p:cNvSpPr/>
          <p:nvPr/>
        </p:nvSpPr>
        <p:spPr>
          <a:xfrm>
            <a:off x="1446276" y="685800"/>
            <a:ext cx="10744200" cy="548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 descr="Tag=AccentColor&#10;Flavor=Light&#10;Target=Line">
            <a:extLst>
              <a:ext uri="{FF2B5EF4-FFF2-40B4-BE49-F238E27FC236}">
                <a16:creationId xmlns:a16="http://schemas.microsoft.com/office/drawing/2014/main" id="{7D4FC5F0-CBD6-AEEB-4902-28D624068890}"/>
              </a:ext>
            </a:extLst>
          </p:cNvPr>
          <p:cNvCxnSpPr>
            <a:cxnSpLocks/>
          </p:cNvCxnSpPr>
          <p:nvPr/>
        </p:nvCxnSpPr>
        <p:spPr>
          <a:xfrm flipV="1">
            <a:off x="11496184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 descr="Tag=AccentColor&#10;Flavor=Light&#10;Target=Line">
            <a:extLst>
              <a:ext uri="{FF2B5EF4-FFF2-40B4-BE49-F238E27FC236}">
                <a16:creationId xmlns:a16="http://schemas.microsoft.com/office/drawing/2014/main" id="{FA9EB4DB-DDA5-1A45-7D87-B2BF67D2D1C3}"/>
              </a:ext>
            </a:extLst>
          </p:cNvPr>
          <p:cNvCxnSpPr>
            <a:cxnSpLocks/>
          </p:cNvCxnSpPr>
          <p:nvPr/>
        </p:nvCxnSpPr>
        <p:spPr>
          <a:xfrm>
            <a:off x="1524" y="6172200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AF870-601F-4570-A8A9-1003F8939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624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CCECD-B6E7-4C40-8A84-65FD5A3F0A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062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EFA4D-0E39-4E26-B43C-5D1084B3BA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0624" y="6217920"/>
            <a:ext cx="2743200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851EA-2F2C-4012-8B96-51179BDD1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67328" y="6217920"/>
            <a:ext cx="7196328" cy="6400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B8ACB-7A60-4D76-A149-0C57A30E0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152" y="-18288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fld id="{3A4F6043-7A67-491B-98BC-F933DED7226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289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896" r:id="rId13"/>
    <p:sldLayoutId id="2147483899" r:id="rId14"/>
    <p:sldLayoutId id="2147483900" r:id="rId15"/>
    <p:sldLayoutId id="2147483902" r:id="rId16"/>
    <p:sldLayoutId id="2147483907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2"/>
        </a:buClr>
        <a:buFont typeface="Wingdings 2" panose="05020102010507070707" pitchFamily="18" charset="2"/>
        <a:buChar char="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2"/>
        </a:buClr>
        <a:buFont typeface="Wingdings 2" panose="05020102010507070707" pitchFamily="18" charset="2"/>
        <a:buChar char="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tkinter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www.geeksforgeeks.org/python/python-gui-tkinter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rahfad/Basic-Calculator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2107B0-826E-4E2E-390A-A0CBF1F8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Calculator with GUI</a:t>
            </a:r>
            <a:br>
              <a:rPr lang="en-US" dirty="0"/>
            </a:br>
            <a:r>
              <a:rPr lang="en-US" sz="3200" dirty="0"/>
              <a:t>Sarah Fadenrecht</a:t>
            </a:r>
            <a:br>
              <a:rPr lang="en-US" sz="3200" dirty="0"/>
            </a:br>
            <a:r>
              <a:rPr lang="en-US" sz="3200" dirty="0"/>
              <a:t>CS3080 001</a:t>
            </a:r>
            <a:br>
              <a:rPr lang="en-US" sz="3200" dirty="0"/>
            </a:br>
            <a:r>
              <a:rPr lang="en-US" sz="3200" dirty="0"/>
              <a:t>Zanyar </a:t>
            </a:r>
            <a:r>
              <a:rPr lang="en-US" sz="3200" dirty="0" err="1"/>
              <a:t>Zohourianshahzadi</a:t>
            </a:r>
            <a:r>
              <a:rPr lang="en-US" sz="3200" dirty="0"/>
              <a:t>  </a:t>
            </a:r>
            <a:br>
              <a:rPr lang="en-US" sz="3200" dirty="0"/>
            </a:br>
            <a:r>
              <a:rPr lang="en-US" sz="3200" dirty="0"/>
              <a:t>December 9,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810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89D8-CDAC-4215-96CD-8548432CE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Basic 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0502F-36D4-4E60-B6E9-08628B2C5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simple, functional desktop calculator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Performs: addition, subtraction, multiplication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Includes backspace and clear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GUI built with </a:t>
            </a:r>
            <a:r>
              <a:rPr lang="en-US" dirty="0" err="1"/>
              <a:t>Tkinter</a:t>
            </a:r>
            <a:endParaRPr lang="en-US" dirty="0"/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86A23B90-D6E2-D980-7780-B6FC54FD8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E0FD4B5-4088-0CC7-E6CC-DEA779045EB0}"/>
              </a:ext>
            </a:extLst>
          </p:cNvPr>
          <p:cNvSpPr txBox="1">
            <a:spLocks/>
          </p:cNvSpPr>
          <p:nvPr/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4F6043-7A67-491B-98BC-F933DED7226D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3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91794-986C-4679-93EA-5F3C3EE6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403B-F6A5-4855-B204-4A9D1F5B2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CalculatorLogic</a:t>
            </a:r>
            <a:r>
              <a:rPr lang="en-US" dirty="0"/>
              <a:t> class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Stored and updates the expression in the window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Validates characters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Handles calculation using Python’s eval()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CalculatorApp</a:t>
            </a:r>
            <a:r>
              <a:rPr lang="en-US" dirty="0"/>
              <a:t> (</a:t>
            </a:r>
            <a:r>
              <a:rPr lang="en-US" dirty="0" err="1"/>
              <a:t>Tkinter</a:t>
            </a:r>
            <a:r>
              <a:rPr lang="en-US" dirty="0"/>
              <a:t> GUI class)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Builds the display area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Creates and places buttons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Connects buttons to logic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Adds pink styling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253F77DE-9A00-003D-3E35-AA011DA6A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AD73156-2390-BB42-48B5-818ECA165475}"/>
              </a:ext>
            </a:extLst>
          </p:cNvPr>
          <p:cNvSpPr txBox="1">
            <a:spLocks/>
          </p:cNvSpPr>
          <p:nvPr/>
        </p:nvSpPr>
        <p:spPr>
          <a:xfrm>
            <a:off x="11503152" y="0"/>
            <a:ext cx="685800" cy="685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4F6043-7A67-491B-98BC-F933DED7226D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62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BAD7B4-5997-4A95-A2A9-773DF1F4C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Calculator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6A002-1BEB-AE76-169E-13071F9091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“brain” of the calculator.</a:t>
            </a:r>
          </a:p>
        </p:txBody>
      </p:sp>
      <p:pic>
        <p:nvPicPr>
          <p:cNvPr id="8" name="Picture 7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54D91DC6-99CE-32B2-F506-C611436A6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825" y="0"/>
            <a:ext cx="69275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96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85544-C200-BEF3-61CE-CCB5EE89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learned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35A923-029A-6A16-47FE-49ED6E141D1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Sources:</a:t>
            </a:r>
          </a:p>
          <a:p>
            <a:r>
              <a:rPr lang="en-US" dirty="0">
                <a:hlinkClick r:id="rId3"/>
              </a:rPr>
              <a:t>https://docs.python.org/3/library/tkinter.html</a:t>
            </a:r>
            <a:endParaRPr lang="en-US" dirty="0"/>
          </a:p>
          <a:p>
            <a:r>
              <a:rPr lang="en-US" dirty="0">
                <a:hlinkClick r:id="rId4"/>
              </a:rPr>
              <a:t>https://www.geeksforgeeks.org/python/python-gui-tkinter/</a:t>
            </a:r>
            <a:endParaRPr lang="en-US" dirty="0"/>
          </a:p>
          <a:p>
            <a:endParaRPr lang="en-US" dirty="0"/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9E4A32E4-179C-6FC0-8A0F-65F163803A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A4F6043-7A67-491B-98BC-F933DED7226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5806B-4BE0-6B7B-FE18-DF2D75670717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/>
          <a:lstStyle/>
          <a:p>
            <a:r>
              <a:rPr lang="en-US" dirty="0"/>
              <a:t>Key Takeaways: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Basics of GUI development with </a:t>
            </a:r>
            <a:r>
              <a:rPr lang="en-US" dirty="0" err="1"/>
              <a:t>Tkinter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bind buttons to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Practical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Styling with </a:t>
            </a:r>
            <a:r>
              <a:rPr lang="en-US" dirty="0" err="1"/>
              <a:t>Tkinter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369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1F15-46F5-4A2B-AF38-34F3B80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Calculator –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A4C54-B3B2-4B02-A340-C72E57FEE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hlinkClick r:id="rId3"/>
              </a:rPr>
              <a:t>https://github.com/sarahfad/Basic-Calculator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345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setVTI">
  <a:themeElements>
    <a:clrScheme name="Custom 20">
      <a:dk1>
        <a:srgbClr val="000000"/>
      </a:dk1>
      <a:lt1>
        <a:sysClr val="window" lastClr="FFFFFF"/>
      </a:lt1>
      <a:dk2>
        <a:srgbClr val="2C3948"/>
      </a:dk2>
      <a:lt2>
        <a:srgbClr val="F4F4F4"/>
      </a:lt2>
      <a:accent1>
        <a:srgbClr val="F49D90"/>
      </a:accent1>
      <a:accent2>
        <a:srgbClr val="D6947C"/>
      </a:accent2>
      <a:accent3>
        <a:srgbClr val="BF8484"/>
      </a:accent3>
      <a:accent4>
        <a:srgbClr val="96A9AA"/>
      </a:accent4>
      <a:accent5>
        <a:srgbClr val="DD796C"/>
      </a:accent5>
      <a:accent6>
        <a:srgbClr val="D09145"/>
      </a:accent6>
      <a:hlink>
        <a:srgbClr val="DF686A"/>
      </a:hlink>
      <a:folHlink>
        <a:srgbClr val="F93F1C"/>
      </a:folHlink>
    </a:clrScheme>
    <a:fontScheme name="Dante">
      <a:majorFont>
        <a:latin typeface="Dante"/>
        <a:ea typeface=""/>
        <a:cs typeface=""/>
      </a:majorFont>
      <a:minorFont>
        <a:latin typeface="Dan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setVTI" id="{17A3166B-76FF-4669-8F6D-D4251AE158D8}" vid="{4532814A-B5F8-4CFD-BC69-A007D492DA4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29436BC-77AE-4AEE-A282-4E162A1CAA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B37DAF-AFAF-4561-A80B-C76198EBD319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B665E41-66EB-401D-940D-8E7024721BE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{7B8D5270-66D4-4209-B54D-219CEF391FD2}TF6ea1097e-8114-4abb-8578-efc1cea4ec3c79c3debc_win32-15e8df654485</Template>
  <TotalTime>23</TotalTime>
  <Words>256</Words>
  <Application>Microsoft Office PowerPoint</Application>
  <PresentationFormat>Widescreen</PresentationFormat>
  <Paragraphs>42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Dante</vt:lpstr>
      <vt:lpstr>Dante (Headings)2</vt:lpstr>
      <vt:lpstr>Helvetica Neue Medium</vt:lpstr>
      <vt:lpstr>Wingdings 2</vt:lpstr>
      <vt:lpstr>OffsetVTI</vt:lpstr>
      <vt:lpstr>Basic Calculator with GUI Sarah Fadenrecht CS3080 001 Zanyar Zohourianshahzadi   December 9, 2025</vt:lpstr>
      <vt:lpstr>What is the Basic Calculator</vt:lpstr>
      <vt:lpstr>Program Structure</vt:lpstr>
      <vt:lpstr>Calculator Logic</vt:lpstr>
      <vt:lpstr>What I learned</vt:lpstr>
      <vt:lpstr>Basic Calculator – 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Fadenrecht</dc:creator>
  <cp:lastModifiedBy>Sarah Fadenrecht</cp:lastModifiedBy>
  <cp:revision>1</cp:revision>
  <dcterms:created xsi:type="dcterms:W3CDTF">2025-12-07T23:03:48Z</dcterms:created>
  <dcterms:modified xsi:type="dcterms:W3CDTF">2025-12-07T23:27:26Z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